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6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 Begrüßung. CRSS ist eine Regulatory-Intelligence-Plattform — kein generischer Chatbot.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Drei Druckpunkte: parallele Regelwerke, Kosten, keine skalierbare Lösung. Timing: MDR/IVDR-Übergangsfristen und EUDAMED-Pflicht sind firm; die KI-Verordnung wird gerade per Digital-Omnibus novelliert — aktiver regulatorischer Umbruch jetzt. Einwand „AI-Act-Hochrisiko wird doch verschoben?“: Der Omnibus verschiebt den Go-live, ist aber selbst eine weitere Novelle zum Nachverfolgen — ein Tool, das Änderungen sofort einliest, ist im Wandel mehr wert, nicht weniger. 1.5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ist kein generischer Chatbot. Der Unterschied: Wissensgraph + rückverfolgbare Quellen + sektorübergreifendes Reasoning. Kurze Demo-Erwähnung möglich. 1.5 Minuten.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Herzstück: Warum ist CRSS schwer zu kopieren? Graph + kuratierte Reasoning-Chains sind die Investition; ein Konkurrent müsste von vorne anfangen. Zur Kennzahl: 8,5/10 ist eine INTERNE Evaluation — 32 komplexe Fälle, LLM-as-Judge gegen ein 10-Punkte-Rubric, Spitzenwert 9/10. Bewusst als intern gekennzeichnet; externe RA-Experten-Validierung läuft im Pilot. Nicht als externen Benchmark verkaufen. 1.5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Kein direkter Wettbewerber hat natives MDR × KI-Verordnung-Reasoning. GRC-Plattformen haben DSGVO-DNA, aber kein sektorspezifisches Reasoning — das ist unsere Position. NRW-Zahl 2.200 / &gt;9 Mrd EUR — Quelle: NRW.Global Business (Landeswirtschaftsförderung): „rund 2.200 medizintechnische Unternehmen … über neun Milliarden Euro". Definition = medizintechnische Unternehmen (Deck-Label passt). Bei Rückfrage: SPECTARIS zählt enger ~285 Hersteller — daher die offizielle NRW-Zahl nutzen. 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Drei Stufen plus Pay-per-use Einstieg. Das Starter-Paket senkt die Einstiegshürde für Berater. Enterprise mit API für große RA-Teams.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Vier Phasen mit messbaren Outcomes — nicht nur Aktivitäten. M1-3 bringt erste LOIs, M10-12 erste MRR. Das Stipendium finanziert den Sprung von Prototyp zu Marktreife.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Technischer Hintergrund + konkreter Bedarf. Das Stipendium schafft Fokus für Marktvalidierung und Produktreife — nicht für Grundlagenforschung, sondern für den Sprung zu ersten Kunden.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Starker Abschluss: Timing (regulatorischer Umbruch jetzt), Technologie defensibel, NRW richtiger Markt. ③ NRW 2.200 = NRW.Global Business (medizintechnische Unternehmen), gleiche Quelle wie Folie 5. Dann Fragen öffnen. 30 Sek.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455A64">
              <a:alpha val="12000"/>
            </a:srgbClr>
          </a:solidFill>
          <a:ln w="12700">
            <a:solidFill>
              <a:srgbClr val="455A64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374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CRSS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Readiness Support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Auditierbare Regulierungsintelligenz für MedTech und KI in der EU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645920" cy="36576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Barra</a:t>
            </a:r>
            <a:pPr algn="l"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Lexorix   ·   Gründungsstipendium NRW   ·   Juni 2026</a:t>
            </a:r>
            <a:endParaRPr lang="en-US" sz="1300" dirty="0"/>
          </a:p>
        </p:txBody>
      </p:sp>
      <p:sp>
        <p:nvSpPr>
          <p:cNvPr id="8" name="TextBox 7"/>
          <p:cNvSpPr txBox="1"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>
                <a:solidFill>
                  <a:srgbClr val="888888"/>
                </a:solidFill>
              </a:rPr>
              <a:t>CRSS ist Entscheidungsunterstützung, keine Rechtsberatung — finale Bewertung durch qualifizierte Fachperson.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55A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8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Problem — und warum jetzt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546E7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Regulatorischer Druck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210312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MDR/IVDR-Übergang, EUDAMED-Pflicht und KI-Verordnung greifen gleichzeitig — Unternehmen müssen mehrere, sich ändernde Regelwerke parallel anwenden.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0400" y="96012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546E7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1430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3756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 &amp; Engpässe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337560" y="210312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MDR-Konformität für Klasse-IIb-Produkte erreicht schnell fünf- bis sechsstellige Kosten (Benannte Stelle, klinische Bewertung, Dokumentation, Beratung). Benannte Stellen bleiben Kapazitätsengpass.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035040" y="96012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546E7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7220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skalierbare Lösung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172200" y="210312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Generische LLMs halluzinieren Rechtsnormen. Datenbanken liefern Texte, kein übergreifendes Reasoning. Consultants sind nicht skalierbar.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006064">
              <a:alpha val="70000"/>
            </a:srgbClr>
          </a:solidFill>
          <a:ln w="12700">
            <a:solidFill>
              <a:srgbClr val="00838F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Regulatorischer Umbruch jetzt: MDR/IVDR-Fristen + EUDAMED + KI-Verordnung in Novellierung (Omnibus 2026) = Nachfragespike jetzt</a:t>
            </a:r>
            <a:endParaRPr lang="en-US" sz="1100" dirty="0"/>
          </a:p>
        </p:txBody>
      </p:sp>
      <p:sp>
        <p:nvSpPr>
          <p:cNvPr id="17" name="TextBox 16"/>
          <p:cNvSpPr txBox="1"/>
          <p:nvPr/>
        </p:nvSpPr>
        <p:spPr>
          <a:xfrm>
            <a:off x="365760" y="4882896"/>
            <a:ext cx="8412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888888"/>
                </a:solidFill>
              </a:rPr>
              <a:t>Kostenangaben: branchenübliche Richtwerte; Benannte-Stelle-Gebühren nach MDR Art. 50. Quellen: Anhang Quellen &amp; Methodik.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55A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8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CRSS — quellenverankertes Regulatory Reasoning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3931920"/>
          </a:xfrm>
          <a:prstGeom prst="roundRect">
            <a:avLst>
              <a:gd name="adj" fmla="val 2326"/>
            </a:avLst>
          </a:prstGeom>
          <a:solidFill>
            <a:srgbClr val="546E7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typische Frage: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455A64"/>
          </a:solidFill>
          <a:ln w="12700">
            <a:solidFill>
              <a:srgbClr val="00838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389888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Pflichten gelten für ein Klasse-IIb-Medizinprodukt mit integriertem KI-Modell unter MDR, EU-KI-Verordnung und DSGVO?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CRSS liefert in Minuten: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Verknüpfte Anforderungen aus MDR, IVDR, KI-Verordnung, DSGVO, MDCG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Rückverfolgbare Antworten mit Artikel- und Leitlinienbezug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Hinweise auf offene Punkte für technische Dossiers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546E7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80060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CRSS unterscheidet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508760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257800" y="1463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Wissensgraph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57800" y="175564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7.000+ verknüpfte Rechtsnormen in Neo4j — kein Flat-Search</a:t>
            </a:r>
            <a:endParaRPr lang="en-US" sz="10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60604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2560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Auditierbar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257800" y="285292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Antwort mit Artikel- und MDCG-Leitlinienbezug</a:t>
            </a:r>
            <a:endParaRPr lang="en-US" sz="10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70332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57800" y="3657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Sektorübergreifend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257800" y="39502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MDR × KI-Verordnung × DSGVO in einem Reasoning-Schritt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55A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8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Aktueller Stand &amp; Defensibilität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37474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6C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7.000+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verknüpfte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Rechtsnormen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9601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37474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291840" y="1051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6C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91840" y="17190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Regelwerke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integriert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9601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37474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051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6C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8,5/10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126480" y="17190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 Eval (LLM-Judge)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Ø, 32 komplexe Fälle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das schwer zu replizieren ist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15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Kuratierte sektorübergreifende Reasoning-Chains (MDR × KI-Verordnung × DSGVO) — nicht automatisch generierbar, artikelgenau aus Primärrecht verankert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15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NLF-Amortisierung: jede neue Verordnung nutzt dieselbe Akteur-Ontologie — Grenzkosten sinken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15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MDCG-Leitlinienintegration und Artikel-Grounding: generische Wettbewerber haben das nicht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2606040"/>
            <a:ext cx="3017520" cy="2331720"/>
          </a:xfrm>
          <a:prstGeom prst="roundRect">
            <a:avLst>
              <a:gd name="adj" fmla="val 3922"/>
            </a:avLst>
          </a:prstGeom>
          <a:solidFill>
            <a:srgbClr val="546E7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9788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Validierungsstatus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97880" y="3017520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Funktionsfähiger Prototyp (MDR, IVDR, KI-Verordnung, DSGVO, MDCG)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Strukturierter Q&amp;A-Workflow mit Quellengrounding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10-Punkte-Rubric-Eval; externe RA-Validierung im Pilot geplant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Go-to-Market: Pilot-Sessions mit MedTech-Teams in NRW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55A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8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Markt &amp; Wettbewerb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546E7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83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38.000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MedTech-Unternehmen EU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709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KMU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0" y="86868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546E7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9144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83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91840" y="1463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MedTech-Firmen NRW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709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 Mrd. EUR Umsatz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35040" y="86868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546E7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9144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83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26480" y="1463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Kernzielgruppe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1709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SaMD-Hersteller ohne voll ausgebautes RA-Team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40280"/>
          <a:ext cx="8412480" cy="265176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383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8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Angebotstyp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8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Stärke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8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Lücke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Generische LLMs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Schnell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Halluziniert Rechtsnormen, keine Quellen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EUR-Lex / Datenbanken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Primärquellen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Kein sektorübergreifendes Reasoning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GRC-Plattformen (OneTrust…)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DSGVO-Reife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KI-Verordnung/MDR nur aufgesetzt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RA-Consultants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Hohe Expertise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200–500 EUR/h, nicht skalierbar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83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CRSS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8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Quellenbasiert + sektorübergreifend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Frühe Produktphase — Stipendium schließt Lücke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5760" y="4882896"/>
            <a:ext cx="8412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888888"/>
                </a:solidFill>
              </a:rPr>
              <a:t>Quellen: MedTech Europe Facts &amp; Figures 2025; NRW.Global Business (Land NRW). Vollständig: Anhang Quellen &amp; Methodik.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55A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8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Geschäftsmodell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546E7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1051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0A4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150–250 EUR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993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2677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10 Assessments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2103120" cy="27432"/>
          </a:xfrm>
          <a:prstGeom prst="rect">
            <a:avLst/>
          </a:prstGeom>
          <a:solidFill>
            <a:srgbClr val="006064">
              <a:alpha val="60000"/>
            </a:srgbClr>
          </a:solidFill>
          <a:ln w="12700">
            <a:solidFill>
              <a:srgbClr val="455A6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269748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Einzelpersonen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RA-Berater im Test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 ohne Commitment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006064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37560" y="1051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463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83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800–1.500 EUR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1993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Monat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22677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30 Assessments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2578608"/>
            <a:ext cx="2103120" cy="27432"/>
          </a:xfrm>
          <a:prstGeom prst="rect">
            <a:avLst/>
          </a:prstGeom>
          <a:solidFill>
            <a:srgbClr val="FFF8E1">
              <a:alpha val="30000"/>
            </a:srgbClr>
          </a:solidFill>
          <a:ln w="12700">
            <a:solidFill>
              <a:srgbClr val="455A6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383280" y="269748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&amp; RA-Abteilungen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Unbegrenzte Fragen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Quellenberichte als PDF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91440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546E7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172200" y="1051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1463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6C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8.000–15.000 EUR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26480" y="1993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Jahr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22677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150+ Assessments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2578608"/>
            <a:ext cx="2103120" cy="27432"/>
          </a:xfrm>
          <a:prstGeom prst="rect">
            <a:avLst/>
          </a:prstGeom>
          <a:solidFill>
            <a:srgbClr val="006064">
              <a:alpha val="60000"/>
            </a:srgbClr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69748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5 Nutzer / unbegrenzt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API-Zugang + SLA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Onboarding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55A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8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12-Monats-Plan mit Stipendium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011680" cy="3977640"/>
          </a:xfrm>
          <a:prstGeom prst="roundRect">
            <a:avLst>
              <a:gd name="adj" fmla="val 4545"/>
            </a:avLst>
          </a:prstGeom>
          <a:solidFill>
            <a:srgbClr val="546E7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1440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00838F">
              <a:alpha val="80000"/>
            </a:srgbClr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1–3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Validierung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" y="178308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Piloten in NRW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Problem-Fit &amp; Pricing bestätigen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zahlende Nutzer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425196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2793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 LOIs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914400"/>
            <a:ext cx="2011680" cy="3977640"/>
          </a:xfrm>
          <a:prstGeom prst="roundRect">
            <a:avLst>
              <a:gd name="adj" fmla="val 4545"/>
            </a:avLst>
          </a:prstGeom>
          <a:solidFill>
            <a:srgbClr val="546E7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91440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26C6DA">
              <a:alpha val="80000"/>
            </a:srgbClr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4–6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Produktreife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78608" y="178308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Dokumentanalyse-Modul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5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Lücken- &amp; Konsistenzprüfung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5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Concept-Layer im Wissensgraph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06040" y="425196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26C6DA"/>
          </a:solidFill>
          <a:ln w="12700">
            <a:solidFill>
              <a:srgbClr val="26C6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42793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Beta-Launch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914400"/>
            <a:ext cx="2011680" cy="3977640"/>
          </a:xfrm>
          <a:prstGeom prst="roundRect">
            <a:avLst>
              <a:gd name="adj" fmla="val 4545"/>
            </a:avLst>
          </a:prstGeom>
          <a:solidFill>
            <a:srgbClr val="546E7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91440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57F17">
              <a:alpha val="80000"/>
            </a:srgbClr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7–9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SaaS-Infrastruktur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27448" y="178308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Mandantenfähige Architektur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DSGVO-konformer Betrieb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Vektorindex-Migration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425196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42793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Produktionsreif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66560" y="914400"/>
            <a:ext cx="2011680" cy="3977640"/>
          </a:xfrm>
          <a:prstGeom prst="roundRect">
            <a:avLst>
              <a:gd name="adj" fmla="val 4545"/>
            </a:avLst>
          </a:prstGeom>
          <a:solidFill>
            <a:srgbClr val="546E7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91440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2E7D32">
              <a:alpha val="80000"/>
            </a:srgbClr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10–12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76288" y="178308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RA-Partnerkanal aufbauen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wiederkehrende Umsätze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Seed-Vorbereitung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03720" y="425196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42793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&gt; 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31720" y="2286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480560" y="2286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629400" y="2286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55A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8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Förderbedarf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60520" cy="2606040"/>
          </a:xfrm>
          <a:prstGeom prst="roundRect">
            <a:avLst>
              <a:gd name="adj" fmla="val 3509"/>
            </a:avLst>
          </a:prstGeom>
          <a:solidFill>
            <a:srgbClr val="546E7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8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Diego Barra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Gründer · Vollzeit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Bionik &amp; Biomimetik, HS Rhein-Waal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ML-Engineering in MedTech (Raman-Spektroskopie, klinische KI)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CRSS-Stack: GraphRAG · Neo4j · multilingual-e5 · LLM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Cross-regulatorisches Reasoning: MDR × KI-VO × DSGVO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4069080" cy="2606040"/>
          </a:xfrm>
          <a:prstGeom prst="roundRect">
            <a:avLst>
              <a:gd name="adj" fmla="val 3509"/>
            </a:avLst>
          </a:prstGeom>
          <a:solidFill>
            <a:srgbClr val="546E7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8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Raman Sheshka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46320" y="1353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· Teilzeit (Core Tech)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664208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Theoretische Physik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rer. nat. Mechanik (PhD)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Data Scientist — tiefgehende wissenschaftliche Kernexpertise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Begleitet Core-Tech: Wissensgraphen &amp; RAG-Architektur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703320"/>
            <a:ext cx="8412480" cy="1234440"/>
          </a:xfrm>
          <a:prstGeom prst="roundRect">
            <a:avLst>
              <a:gd name="adj" fmla="val 7407"/>
            </a:avLst>
          </a:prstGeom>
          <a:solidFill>
            <a:srgbClr val="37474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das Stipendium ermöglicht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51376"/>
            <a:ext cx="228600" cy="2286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4114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Pilot-Kunden in NRW validieren</a:t>
            </a:r>
            <a:endParaRPr lang="en-US" sz="10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62856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22960" y="4526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Produktreife: Dokumentanalyse + Concept-Layer</a:t>
            </a:r>
            <a:endParaRPr lang="en-US" sz="10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415137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29200" y="4114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DSGVO-konformer SaaS-Betrieb</a:t>
            </a:r>
            <a:endParaRPr lang="en-US" sz="10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4562856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29200" y="4526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MRR &amp; Seed-Vorbereitung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502920" y="482803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NRW: direkter Zugang zu MedTech-Clustern Düsseldorf · Köln/Bonn · Aachen  |  Kein Stipendium für Raman (Wohnsitz außerhalb NRW)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74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828800"/>
            <a:ext cx="4572000" cy="4572000"/>
          </a:xfrm>
          <a:prstGeom prst="ellipse">
            <a:avLst/>
          </a:prstGeom>
          <a:solidFill>
            <a:srgbClr val="00838F">
              <a:alpha val="15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8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CRSS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Regelwerk ist komplex. Die Antwort sollte es nicht sein.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33172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pPr indent="0" marL="0">
              <a:buNone/>
            </a:pPr>
            <a:r>
              <a:rPr lang="en-US" sz="14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Umbruch jetzt: MDR/IVDR-Transition, EUDAMED &amp; KI-Verordnung im Wandel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pPr indent="0" marL="0">
              <a:buNone/>
            </a:pPr>
            <a:r>
              <a:rPr lang="en-US" sz="14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 defensibel: Wissensgraph + kuratierte Reasoning-Chains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pPr indent="0" marL="0">
              <a:buNone/>
            </a:pPr>
            <a:r>
              <a:rPr lang="en-US" sz="14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NRW-fokussiert: 2.200 MedTech-Unternehmen vor der Tür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diego.barra@lexorix.eu   ·   linkedin.com/in/diegobarra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5A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Quellen &amp; Methodik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3072384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383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8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8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8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38.000 EU-MedTech · 90 % KMU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MedTech Europe, Facts &amp; Figures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offiziell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2.200 MedTech NRW · &gt;9 Mrd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NRW.Global Business (Land NRW)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offiziell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MDR-Konformität: 5–6-stellige Kosten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NB-Gebühren (MDR Art. 50); EuroDev, i3CGLOBAL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Richtwert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RA-Beratersätze 200–500 €/h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MedEnvoy; OMC Medical Fee 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Richtwert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MDR/IVDR/EUDAMED/KI-VO + Omnibus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0" dirty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 (EU) 2017/745·746, 2024/1860·1689; COM(2025) 836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offiziell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8,5/10 (interne Eval)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LLM-Judge, 10-Pkt-Rubrik, 32 Fälle (Ø 8,53)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7.000+ Normen · 4 Regelwerke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Neo4j-Graph; MDR·IVDR·KI-VO·DSGVO + MDCG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 b="0">
                          <a:solidFill>
                            <a:srgbClr val="ECE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88888"/>
                </a:solidFill>
              </a:rPr>
              <a:t>Güte: offiziell / Branchenrichtwert / intern · Vollständiges Quellenregister: Quellen.md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CRSS – Gründungsstipendium NRW 2026</dc:title>
  <dc:subject>PptxGenJS Presentation</dc:subject>
  <dc:creator>Diego Barra</dc:creator>
  <cp:lastModifiedBy>Diego Barra</cp:lastModifiedBy>
  <cp:revision>1</cp:revision>
  <dcterms:created xsi:type="dcterms:W3CDTF">2026-06-23T11:52:06Z</dcterms:created>
  <dcterms:modified xsi:type="dcterms:W3CDTF">2026-06-23T11:52:06Z</dcterms:modified>
</cp:coreProperties>
</file>